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6"/>
  </p:notesMasterIdLst>
  <p:sldIdLst>
    <p:sldId id="256" r:id="rId2"/>
    <p:sldId id="257" r:id="rId3"/>
    <p:sldId id="258" r:id="rId4"/>
    <p:sldId id="261" r:id="rId5"/>
    <p:sldId id="259" r:id="rId6"/>
    <p:sldId id="260" r:id="rId7"/>
    <p:sldId id="263" r:id="rId8"/>
    <p:sldId id="262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48" autoAdjust="0"/>
    <p:restoredTop sz="94660"/>
  </p:normalViewPr>
  <p:slideViewPr>
    <p:cSldViewPr snapToGrid="0">
      <p:cViewPr varScale="1">
        <p:scale>
          <a:sx n="55" d="100"/>
          <a:sy n="55" d="100"/>
        </p:scale>
        <p:origin x="62" y="3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4F6CBC7-AFBE-459C-8273-6B7861819A0F}" type="doc">
      <dgm:prSet loTypeId="urn:microsoft.com/office/officeart/2005/8/layout/vProcess5" loCatId="process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9D8BBEA9-485B-4ADF-8E2F-DF22750D74B0}">
      <dgm:prSet/>
      <dgm:spPr/>
      <dgm:t>
        <a:bodyPr/>
        <a:lstStyle/>
        <a:p>
          <a:r>
            <a:rPr lang="en-US"/>
            <a:t>Voronio Diagram as Template</a:t>
          </a:r>
        </a:p>
      </dgm:t>
    </dgm:pt>
    <dgm:pt modelId="{62B85994-7877-41B9-B096-6B399F6E863D}" type="parTrans" cxnId="{AD3BC07C-2087-41B6-8F83-31734DA5075F}">
      <dgm:prSet/>
      <dgm:spPr/>
      <dgm:t>
        <a:bodyPr/>
        <a:lstStyle/>
        <a:p>
          <a:endParaRPr lang="en-US"/>
        </a:p>
      </dgm:t>
    </dgm:pt>
    <dgm:pt modelId="{A0319583-F081-4B3F-94E6-78A08265D1B1}" type="sibTrans" cxnId="{AD3BC07C-2087-41B6-8F83-31734DA5075F}">
      <dgm:prSet/>
      <dgm:spPr/>
      <dgm:t>
        <a:bodyPr/>
        <a:lstStyle/>
        <a:p>
          <a:endParaRPr lang="en-US"/>
        </a:p>
      </dgm:t>
    </dgm:pt>
    <dgm:pt modelId="{8FF4430A-5D3B-4CC7-B731-419B61B75A61}">
      <dgm:prSet/>
      <dgm:spPr/>
      <dgm:t>
        <a:bodyPr/>
        <a:lstStyle/>
        <a:p>
          <a:r>
            <a:rPr lang="en-US"/>
            <a:t>Art as Template, based on voronio Diagram</a:t>
          </a:r>
        </a:p>
      </dgm:t>
    </dgm:pt>
    <dgm:pt modelId="{4A550A95-56F9-40AB-9796-0B177484AAA5}" type="parTrans" cxnId="{EE546812-598B-40F7-89BC-BACBE73A5A11}">
      <dgm:prSet/>
      <dgm:spPr/>
      <dgm:t>
        <a:bodyPr/>
        <a:lstStyle/>
        <a:p>
          <a:endParaRPr lang="en-US"/>
        </a:p>
      </dgm:t>
    </dgm:pt>
    <dgm:pt modelId="{DFED4D1E-5E83-4E96-83DA-623A081CC27F}" type="sibTrans" cxnId="{EE546812-598B-40F7-89BC-BACBE73A5A11}">
      <dgm:prSet/>
      <dgm:spPr/>
      <dgm:t>
        <a:bodyPr/>
        <a:lstStyle/>
        <a:p>
          <a:endParaRPr lang="en-US"/>
        </a:p>
      </dgm:t>
    </dgm:pt>
    <dgm:pt modelId="{EBB47FBF-9266-4126-B280-BFFD0C115B15}">
      <dgm:prSet/>
      <dgm:spPr/>
      <dgm:t>
        <a:bodyPr/>
        <a:lstStyle/>
        <a:p>
          <a:r>
            <a:rPr lang="en-US" dirty="0"/>
            <a:t>Crowd supported art and avatar variation</a:t>
          </a:r>
        </a:p>
      </dgm:t>
    </dgm:pt>
    <dgm:pt modelId="{1EB86186-CE17-4EB4-89F9-60BACD6A3E69}" type="parTrans" cxnId="{810E87FB-9677-4D08-959E-2ECC24E67B09}">
      <dgm:prSet/>
      <dgm:spPr/>
      <dgm:t>
        <a:bodyPr/>
        <a:lstStyle/>
        <a:p>
          <a:endParaRPr lang="en-US"/>
        </a:p>
      </dgm:t>
    </dgm:pt>
    <dgm:pt modelId="{DCC5E273-2227-400A-B07D-8B51AFA137A3}" type="sibTrans" cxnId="{810E87FB-9677-4D08-959E-2ECC24E67B09}">
      <dgm:prSet/>
      <dgm:spPr/>
      <dgm:t>
        <a:bodyPr/>
        <a:lstStyle/>
        <a:p>
          <a:endParaRPr lang="en-US"/>
        </a:p>
      </dgm:t>
    </dgm:pt>
    <dgm:pt modelId="{CE966AD6-ACAE-4E92-A632-61AA86FF7B6C}" type="pres">
      <dgm:prSet presAssocID="{34F6CBC7-AFBE-459C-8273-6B7861819A0F}" presName="outerComposite" presStyleCnt="0">
        <dgm:presLayoutVars>
          <dgm:chMax val="5"/>
          <dgm:dir/>
          <dgm:resizeHandles val="exact"/>
        </dgm:presLayoutVars>
      </dgm:prSet>
      <dgm:spPr/>
    </dgm:pt>
    <dgm:pt modelId="{F5552E40-6F81-40DD-8A58-377F186D541C}" type="pres">
      <dgm:prSet presAssocID="{34F6CBC7-AFBE-459C-8273-6B7861819A0F}" presName="dummyMaxCanvas" presStyleCnt="0">
        <dgm:presLayoutVars/>
      </dgm:prSet>
      <dgm:spPr/>
    </dgm:pt>
    <dgm:pt modelId="{680D14B9-9260-4D60-A023-7BBAF97982AD}" type="pres">
      <dgm:prSet presAssocID="{34F6CBC7-AFBE-459C-8273-6B7861819A0F}" presName="ThreeNodes_1" presStyleLbl="node1" presStyleIdx="0" presStyleCnt="3">
        <dgm:presLayoutVars>
          <dgm:bulletEnabled val="1"/>
        </dgm:presLayoutVars>
      </dgm:prSet>
      <dgm:spPr/>
    </dgm:pt>
    <dgm:pt modelId="{CD41BFE4-E684-4AB2-8DA8-311A181F09B5}" type="pres">
      <dgm:prSet presAssocID="{34F6CBC7-AFBE-459C-8273-6B7861819A0F}" presName="ThreeNodes_2" presStyleLbl="node1" presStyleIdx="1" presStyleCnt="3">
        <dgm:presLayoutVars>
          <dgm:bulletEnabled val="1"/>
        </dgm:presLayoutVars>
      </dgm:prSet>
      <dgm:spPr/>
    </dgm:pt>
    <dgm:pt modelId="{80FE7C4A-C35D-4026-B5AF-8176947AF288}" type="pres">
      <dgm:prSet presAssocID="{34F6CBC7-AFBE-459C-8273-6B7861819A0F}" presName="ThreeNodes_3" presStyleLbl="node1" presStyleIdx="2" presStyleCnt="3">
        <dgm:presLayoutVars>
          <dgm:bulletEnabled val="1"/>
        </dgm:presLayoutVars>
      </dgm:prSet>
      <dgm:spPr/>
    </dgm:pt>
    <dgm:pt modelId="{24A8120C-6135-4019-BAEB-1A55B0F372D5}" type="pres">
      <dgm:prSet presAssocID="{34F6CBC7-AFBE-459C-8273-6B7861819A0F}" presName="ThreeConn_1-2" presStyleLbl="fgAccFollowNode1" presStyleIdx="0" presStyleCnt="2">
        <dgm:presLayoutVars>
          <dgm:bulletEnabled val="1"/>
        </dgm:presLayoutVars>
      </dgm:prSet>
      <dgm:spPr/>
    </dgm:pt>
    <dgm:pt modelId="{04DE10CE-AE4C-4E49-9BBC-31ED48E03ECD}" type="pres">
      <dgm:prSet presAssocID="{34F6CBC7-AFBE-459C-8273-6B7861819A0F}" presName="ThreeConn_2-3" presStyleLbl="fgAccFollowNode1" presStyleIdx="1" presStyleCnt="2">
        <dgm:presLayoutVars>
          <dgm:bulletEnabled val="1"/>
        </dgm:presLayoutVars>
      </dgm:prSet>
      <dgm:spPr/>
    </dgm:pt>
    <dgm:pt modelId="{0B8A2E26-1197-4087-A237-DD7C893BA02A}" type="pres">
      <dgm:prSet presAssocID="{34F6CBC7-AFBE-459C-8273-6B7861819A0F}" presName="ThreeNodes_1_text" presStyleLbl="node1" presStyleIdx="2" presStyleCnt="3">
        <dgm:presLayoutVars>
          <dgm:bulletEnabled val="1"/>
        </dgm:presLayoutVars>
      </dgm:prSet>
      <dgm:spPr/>
    </dgm:pt>
    <dgm:pt modelId="{BAE1D8D9-CB31-4AB2-8006-315672253404}" type="pres">
      <dgm:prSet presAssocID="{34F6CBC7-AFBE-459C-8273-6B7861819A0F}" presName="ThreeNodes_2_text" presStyleLbl="node1" presStyleIdx="2" presStyleCnt="3">
        <dgm:presLayoutVars>
          <dgm:bulletEnabled val="1"/>
        </dgm:presLayoutVars>
      </dgm:prSet>
      <dgm:spPr/>
    </dgm:pt>
    <dgm:pt modelId="{7273918A-19F9-4CEF-821E-2CE39FA03CDC}" type="pres">
      <dgm:prSet presAssocID="{34F6CBC7-AFBE-459C-8273-6B7861819A0F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7114C404-5334-4FF6-8408-BAE3C16B9C76}" type="presOf" srcId="{9D8BBEA9-485B-4ADF-8E2F-DF22750D74B0}" destId="{680D14B9-9260-4D60-A023-7BBAF97982AD}" srcOrd="0" destOrd="0" presId="urn:microsoft.com/office/officeart/2005/8/layout/vProcess5"/>
    <dgm:cxn modelId="{EE546812-598B-40F7-89BC-BACBE73A5A11}" srcId="{34F6CBC7-AFBE-459C-8273-6B7861819A0F}" destId="{8FF4430A-5D3B-4CC7-B731-419B61B75A61}" srcOrd="1" destOrd="0" parTransId="{4A550A95-56F9-40AB-9796-0B177484AAA5}" sibTransId="{DFED4D1E-5E83-4E96-83DA-623A081CC27F}"/>
    <dgm:cxn modelId="{1CF0B61A-850F-48A2-B890-8D07E668A54C}" type="presOf" srcId="{A0319583-F081-4B3F-94E6-78A08265D1B1}" destId="{24A8120C-6135-4019-BAEB-1A55B0F372D5}" srcOrd="0" destOrd="0" presId="urn:microsoft.com/office/officeart/2005/8/layout/vProcess5"/>
    <dgm:cxn modelId="{FAC92839-6A46-45AA-96CE-A599C46B10F8}" type="presOf" srcId="{8FF4430A-5D3B-4CC7-B731-419B61B75A61}" destId="{BAE1D8D9-CB31-4AB2-8006-315672253404}" srcOrd="1" destOrd="0" presId="urn:microsoft.com/office/officeart/2005/8/layout/vProcess5"/>
    <dgm:cxn modelId="{90CEE761-929B-4CEB-9127-FF6C8E082F06}" type="presOf" srcId="{EBB47FBF-9266-4126-B280-BFFD0C115B15}" destId="{80FE7C4A-C35D-4026-B5AF-8176947AF288}" srcOrd="0" destOrd="0" presId="urn:microsoft.com/office/officeart/2005/8/layout/vProcess5"/>
    <dgm:cxn modelId="{4B1B5C54-A30F-4D13-82D3-3101B4A26B6A}" type="presOf" srcId="{DFED4D1E-5E83-4E96-83DA-623A081CC27F}" destId="{04DE10CE-AE4C-4E49-9BBC-31ED48E03ECD}" srcOrd="0" destOrd="0" presId="urn:microsoft.com/office/officeart/2005/8/layout/vProcess5"/>
    <dgm:cxn modelId="{C4BE8E78-7776-4F05-B26E-99576AEDE02F}" type="presOf" srcId="{34F6CBC7-AFBE-459C-8273-6B7861819A0F}" destId="{CE966AD6-ACAE-4E92-A632-61AA86FF7B6C}" srcOrd="0" destOrd="0" presId="urn:microsoft.com/office/officeart/2005/8/layout/vProcess5"/>
    <dgm:cxn modelId="{AD3BC07C-2087-41B6-8F83-31734DA5075F}" srcId="{34F6CBC7-AFBE-459C-8273-6B7861819A0F}" destId="{9D8BBEA9-485B-4ADF-8E2F-DF22750D74B0}" srcOrd="0" destOrd="0" parTransId="{62B85994-7877-41B9-B096-6B399F6E863D}" sibTransId="{A0319583-F081-4B3F-94E6-78A08265D1B1}"/>
    <dgm:cxn modelId="{73881793-04D4-46AD-A015-69BB693A5AE8}" type="presOf" srcId="{9D8BBEA9-485B-4ADF-8E2F-DF22750D74B0}" destId="{0B8A2E26-1197-4087-A237-DD7C893BA02A}" srcOrd="1" destOrd="0" presId="urn:microsoft.com/office/officeart/2005/8/layout/vProcess5"/>
    <dgm:cxn modelId="{C0B530B7-78C8-4D21-91D5-E1212F08D485}" type="presOf" srcId="{EBB47FBF-9266-4126-B280-BFFD0C115B15}" destId="{7273918A-19F9-4CEF-821E-2CE39FA03CDC}" srcOrd="1" destOrd="0" presId="urn:microsoft.com/office/officeart/2005/8/layout/vProcess5"/>
    <dgm:cxn modelId="{090EC9CA-DBF8-410F-9B3A-BCA50C81FB5A}" type="presOf" srcId="{8FF4430A-5D3B-4CC7-B731-419B61B75A61}" destId="{CD41BFE4-E684-4AB2-8DA8-311A181F09B5}" srcOrd="0" destOrd="0" presId="urn:microsoft.com/office/officeart/2005/8/layout/vProcess5"/>
    <dgm:cxn modelId="{810E87FB-9677-4D08-959E-2ECC24E67B09}" srcId="{34F6CBC7-AFBE-459C-8273-6B7861819A0F}" destId="{EBB47FBF-9266-4126-B280-BFFD0C115B15}" srcOrd="2" destOrd="0" parTransId="{1EB86186-CE17-4EB4-89F9-60BACD6A3E69}" sibTransId="{DCC5E273-2227-400A-B07D-8B51AFA137A3}"/>
    <dgm:cxn modelId="{E225DB44-2B47-422C-BEF5-263F10455060}" type="presParOf" srcId="{CE966AD6-ACAE-4E92-A632-61AA86FF7B6C}" destId="{F5552E40-6F81-40DD-8A58-377F186D541C}" srcOrd="0" destOrd="0" presId="urn:microsoft.com/office/officeart/2005/8/layout/vProcess5"/>
    <dgm:cxn modelId="{32283835-4BFD-4CC3-B875-64A340D0ABAD}" type="presParOf" srcId="{CE966AD6-ACAE-4E92-A632-61AA86FF7B6C}" destId="{680D14B9-9260-4D60-A023-7BBAF97982AD}" srcOrd="1" destOrd="0" presId="urn:microsoft.com/office/officeart/2005/8/layout/vProcess5"/>
    <dgm:cxn modelId="{5814E9FB-9E3E-4BAD-948B-929BF4E77A19}" type="presParOf" srcId="{CE966AD6-ACAE-4E92-A632-61AA86FF7B6C}" destId="{CD41BFE4-E684-4AB2-8DA8-311A181F09B5}" srcOrd="2" destOrd="0" presId="urn:microsoft.com/office/officeart/2005/8/layout/vProcess5"/>
    <dgm:cxn modelId="{08381215-8B94-45C2-948B-34E226E599B9}" type="presParOf" srcId="{CE966AD6-ACAE-4E92-A632-61AA86FF7B6C}" destId="{80FE7C4A-C35D-4026-B5AF-8176947AF288}" srcOrd="3" destOrd="0" presId="urn:microsoft.com/office/officeart/2005/8/layout/vProcess5"/>
    <dgm:cxn modelId="{1B11DF7F-CFDF-4301-8F27-3316EEA80510}" type="presParOf" srcId="{CE966AD6-ACAE-4E92-A632-61AA86FF7B6C}" destId="{24A8120C-6135-4019-BAEB-1A55B0F372D5}" srcOrd="4" destOrd="0" presId="urn:microsoft.com/office/officeart/2005/8/layout/vProcess5"/>
    <dgm:cxn modelId="{5675CE26-7A97-48AB-8192-C8261FC432DA}" type="presParOf" srcId="{CE966AD6-ACAE-4E92-A632-61AA86FF7B6C}" destId="{04DE10CE-AE4C-4E49-9BBC-31ED48E03ECD}" srcOrd="5" destOrd="0" presId="urn:microsoft.com/office/officeart/2005/8/layout/vProcess5"/>
    <dgm:cxn modelId="{BF72046E-CC0D-4016-8B08-ADA5A04A1757}" type="presParOf" srcId="{CE966AD6-ACAE-4E92-A632-61AA86FF7B6C}" destId="{0B8A2E26-1197-4087-A237-DD7C893BA02A}" srcOrd="6" destOrd="0" presId="urn:microsoft.com/office/officeart/2005/8/layout/vProcess5"/>
    <dgm:cxn modelId="{27705DEA-DDFD-4797-9E1B-C63F7B6B67A8}" type="presParOf" srcId="{CE966AD6-ACAE-4E92-A632-61AA86FF7B6C}" destId="{BAE1D8D9-CB31-4AB2-8006-315672253404}" srcOrd="7" destOrd="0" presId="urn:microsoft.com/office/officeart/2005/8/layout/vProcess5"/>
    <dgm:cxn modelId="{2B65EAD1-BE68-4C9D-B808-8FEDA207732B}" type="presParOf" srcId="{CE966AD6-ACAE-4E92-A632-61AA86FF7B6C}" destId="{7273918A-19F9-4CEF-821E-2CE39FA03CDC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0D14B9-9260-4D60-A023-7BBAF97982AD}">
      <dsp:nvSpPr>
        <dsp:cNvPr id="0" name=""/>
        <dsp:cNvSpPr/>
      </dsp:nvSpPr>
      <dsp:spPr>
        <a:xfrm>
          <a:off x="0" y="0"/>
          <a:ext cx="7306865" cy="116443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Voronio Diagram as Template</a:t>
          </a:r>
        </a:p>
      </dsp:txBody>
      <dsp:txXfrm>
        <a:off x="34105" y="34105"/>
        <a:ext cx="6050353" cy="1096221"/>
      </dsp:txXfrm>
    </dsp:sp>
    <dsp:sp modelId="{CD41BFE4-E684-4AB2-8DA8-311A181F09B5}">
      <dsp:nvSpPr>
        <dsp:cNvPr id="0" name=""/>
        <dsp:cNvSpPr/>
      </dsp:nvSpPr>
      <dsp:spPr>
        <a:xfrm>
          <a:off x="644723" y="1358502"/>
          <a:ext cx="7306865" cy="1164431"/>
        </a:xfrm>
        <a:prstGeom prst="roundRect">
          <a:avLst>
            <a:gd name="adj" fmla="val 10000"/>
          </a:avLst>
        </a:prstGeom>
        <a:solidFill>
          <a:schemeClr val="accent2">
            <a:hueOff val="-1482143"/>
            <a:satOff val="7100"/>
            <a:lumOff val="6569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Art as Template, based on voronio Diagram</a:t>
          </a:r>
        </a:p>
      </dsp:txBody>
      <dsp:txXfrm>
        <a:off x="678828" y="1392607"/>
        <a:ext cx="5837051" cy="1096221"/>
      </dsp:txXfrm>
    </dsp:sp>
    <dsp:sp modelId="{80FE7C4A-C35D-4026-B5AF-8176947AF288}">
      <dsp:nvSpPr>
        <dsp:cNvPr id="0" name=""/>
        <dsp:cNvSpPr/>
      </dsp:nvSpPr>
      <dsp:spPr>
        <a:xfrm>
          <a:off x="1289446" y="2717005"/>
          <a:ext cx="7306865" cy="1164431"/>
        </a:xfrm>
        <a:prstGeom prst="roundRect">
          <a:avLst>
            <a:gd name="adj" fmla="val 10000"/>
          </a:avLst>
        </a:prstGeom>
        <a:solidFill>
          <a:schemeClr val="accent2">
            <a:hueOff val="-2964286"/>
            <a:satOff val="14200"/>
            <a:lumOff val="13137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Crowd supported art and avatar variation</a:t>
          </a:r>
        </a:p>
      </dsp:txBody>
      <dsp:txXfrm>
        <a:off x="1323551" y="2751110"/>
        <a:ext cx="5837051" cy="1096221"/>
      </dsp:txXfrm>
    </dsp:sp>
    <dsp:sp modelId="{24A8120C-6135-4019-BAEB-1A55B0F372D5}">
      <dsp:nvSpPr>
        <dsp:cNvPr id="0" name=""/>
        <dsp:cNvSpPr/>
      </dsp:nvSpPr>
      <dsp:spPr>
        <a:xfrm>
          <a:off x="6549984" y="883026"/>
          <a:ext cx="756880" cy="75688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6720282" y="883026"/>
        <a:ext cx="416284" cy="569552"/>
      </dsp:txXfrm>
    </dsp:sp>
    <dsp:sp modelId="{04DE10CE-AE4C-4E49-9BBC-31ED48E03ECD}">
      <dsp:nvSpPr>
        <dsp:cNvPr id="0" name=""/>
        <dsp:cNvSpPr/>
      </dsp:nvSpPr>
      <dsp:spPr>
        <a:xfrm>
          <a:off x="7194708" y="2233766"/>
          <a:ext cx="756880" cy="75688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4091839"/>
            <a:satOff val="45107"/>
            <a:lumOff val="4296"/>
            <a:alphaOff val="0"/>
          </a:schemeClr>
        </a:solidFill>
        <a:ln w="19050" cap="rnd" cmpd="sng" algn="ctr">
          <a:solidFill>
            <a:schemeClr val="accent2">
              <a:tint val="40000"/>
              <a:alpha val="90000"/>
              <a:hueOff val="-4091839"/>
              <a:satOff val="45107"/>
              <a:lumOff val="429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7365006" y="2233766"/>
        <a:ext cx="416284" cy="5695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F845BB-4F74-4D39-848D-9F1F63F1516F}" type="datetimeFigureOut">
              <a:rPr lang="en-US" smtClean="0"/>
              <a:t>12/9/2018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DE816D-5996-49D6-B240-19CA46764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736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DE816D-5996-49D6-B240-19CA467646B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080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3F6F99-4C1B-4475-94ED-BCCFC03C2575}" type="datetime1">
              <a:rPr lang="en-US" smtClean="0"/>
              <a:t>12/10/2018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Avarkey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59D5-91C1-4E9C-B29B-A30C26C8E3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404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B833D-C94D-45A1-9020-61777CA8C600}" type="datetime1">
              <a:rPr lang="en-US" smtClean="0"/>
              <a:t>12/10/2018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Avarkey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59D5-91C1-4E9C-B29B-A30C26C8E3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393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D0E7B-D7C0-4449-A509-BB03195C3D83}" type="datetime1">
              <a:rPr lang="en-US" smtClean="0"/>
              <a:t>12/10/2018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Avarkey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59D5-91C1-4E9C-B29B-A30C26C8E3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987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15D9A-42AC-4664-B4CD-30869972C069}" type="datetime1">
              <a:rPr lang="en-US" smtClean="0"/>
              <a:t>12/10/2018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Avarkey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59D5-91C1-4E9C-B29B-A30C26C8E3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175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41BB6-F4CA-4E21-8E01-6FD1EA2BDA19}" type="datetime1">
              <a:rPr lang="en-US" smtClean="0"/>
              <a:t>12/10/2018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Avarkey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59D5-91C1-4E9C-B29B-A30C26C8E3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143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D1078-4B5D-4CE3-85B8-2986EE23055C}" type="datetime1">
              <a:rPr lang="en-US" smtClean="0"/>
              <a:t>12/10/2018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Avarkey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59D5-91C1-4E9C-B29B-A30C26C8E3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946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B0B84-BAA9-4474-8CEF-B16F051280C8}" type="datetime1">
              <a:rPr lang="en-US" smtClean="0"/>
              <a:t>12/10/2018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Avarkey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59D5-91C1-4E9C-B29B-A30C26C8E3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8493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EFC7A-53F6-44E4-8D06-72A9A80F8AD0}" type="datetime1">
              <a:rPr lang="en-US" smtClean="0"/>
              <a:t>12/10/2018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Avarkey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59D5-91C1-4E9C-B29B-A30C26C8E3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189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6604B-4258-459F-B3FE-4268CE2B4A0C}" type="datetime1">
              <a:rPr lang="en-US" smtClean="0"/>
              <a:t>12/10/2018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Avarkey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59D5-91C1-4E9C-B29B-A30C26C8E3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143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84AFE-75A8-4C12-8716-071CDF9D1321}" type="datetime1">
              <a:rPr lang="en-US" smtClean="0"/>
              <a:t>12/10/2018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Avarkey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59D5-91C1-4E9C-B29B-A30C26C8E3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445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E6B8B-EAAF-4114-A5E9-9EA9EA636BCD}" type="datetime1">
              <a:rPr lang="en-US" smtClean="0"/>
              <a:t>12/10/2018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Avarkey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59D5-91C1-4E9C-B29B-A30C26C8E367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68252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BAB1E-0E0F-48C9-81FD-D1316E5BCBE4}" type="datetime1">
              <a:rPr lang="en-US" smtClean="0"/>
              <a:t>12/10/2018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Avarkey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59D5-91C1-4E9C-B29B-A30C26C8E3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6695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34750F-6017-44B7-9732-0F6E947E41CB}" type="datetime1">
              <a:rPr lang="en-US" smtClean="0"/>
              <a:t>12/10/2018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Avarkey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59D5-91C1-4E9C-B29B-A30C26C8E367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422186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6E269-C334-44B5-BB11-44F97BB4BF31}" type="datetime1">
              <a:rPr lang="en-US" smtClean="0"/>
              <a:t>12/10/2018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Avarkey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59D5-91C1-4E9C-B29B-A30C26C8E3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0817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49861-801B-4E9B-9344-64CB3597790C}" type="datetime1">
              <a:rPr lang="en-US" smtClean="0"/>
              <a:t>12/10/2018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Avarkey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59D5-91C1-4E9C-B29B-A30C26C8E3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7830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55C61-1A58-4834-AA63-7403A49819C1}" type="datetime1">
              <a:rPr lang="en-US" smtClean="0"/>
              <a:t>12/10/2018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Avarkey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59D5-91C1-4E9C-B29B-A30C26C8E3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036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FD0CF-B184-42A9-9A69-6BEC807EBA96}" type="datetime1">
              <a:rPr lang="en-US" smtClean="0"/>
              <a:t>12/10/2018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Avarkey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7AC59D5-91C1-4E9C-B29B-A30C26C8E3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577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://13.209.194.1:5000/api/?module=ff206b0edf705eb7538c49c8f7401436&amp;token=a340806392314cd452eae3800271e01e127659944986473b7176454a9878dd5c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CAA86-0A98-4FE8-BA35-F626E24763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9528" y="2404534"/>
            <a:ext cx="8934138" cy="1646302"/>
          </a:xfrm>
        </p:spPr>
        <p:txBody>
          <a:bodyPr/>
          <a:lstStyle/>
          <a:p>
            <a:r>
              <a:rPr lang="en-US" dirty="0"/>
              <a:t>Avatar layered creation tool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F24DD6-FCA8-4C8D-8979-EFB302CC9B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Decoupling of CI and CD during development of blockchain related avatar</a:t>
            </a:r>
          </a:p>
        </p:txBody>
      </p:sp>
    </p:spTree>
    <p:extLst>
      <p:ext uri="{BB962C8B-B14F-4D97-AF65-F5344CB8AC3E}">
        <p14:creationId xmlns:p14="http://schemas.microsoft.com/office/powerpoint/2010/main" val="28594961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86978-B46D-472D-B5A3-20C63F873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>
            <a:normAutofit/>
          </a:bodyPr>
          <a:lstStyle/>
          <a:p>
            <a:r>
              <a:rPr lang="en-US" dirty="0"/>
              <a:t>History of avatar creation process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9F07ACF-4535-48A2-8022-036F12253D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071395"/>
              </p:ext>
            </p:extLst>
          </p:nvPr>
        </p:nvGraphicFramePr>
        <p:xfrm>
          <a:off x="677863" y="2160588"/>
          <a:ext cx="8596312" cy="388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6BEB41-07E5-4D63-9CBE-44CA87FE5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4595A-A3F6-42A3-B5C3-1480A77E3E10}" type="datetime1">
              <a:rPr lang="en-US" smtClean="0"/>
              <a:t>12/10/2018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44C7A3-3E95-4794-A5BC-215489D09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Avarkey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A4B4B4-8626-4D93-A401-77DA0E948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59D5-91C1-4E9C-B29B-A30C26C8E36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298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DDB02-A36A-4288-A822-71234E486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Voronio</a:t>
            </a:r>
            <a:r>
              <a:rPr lang="en-US" dirty="0"/>
              <a:t> Diagram as template for avatar</a:t>
            </a:r>
          </a:p>
        </p:txBody>
      </p:sp>
      <p:pic>
        <p:nvPicPr>
          <p:cNvPr id="1026" name="Picture 2" descr="Voronoi diagram - Wikipedia">
            <a:extLst>
              <a:ext uri="{FF2B5EF4-FFF2-40B4-BE49-F238E27FC236}">
                <a16:creationId xmlns:a16="http://schemas.microsoft.com/office/drawing/2014/main" id="{FD87B0CC-EA81-4C58-86F0-EC050242920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5997" y="2295525"/>
            <a:ext cx="2816121" cy="2816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D526632-ED16-4638-92BA-91330E9100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9917" y="2295525"/>
            <a:ext cx="3048775" cy="2811516"/>
          </a:xfrm>
          <a:prstGeom prst="rect">
            <a:avLst/>
          </a:prstGeom>
        </p:spPr>
      </p:pic>
      <p:pic>
        <p:nvPicPr>
          <p:cNvPr id="1028" name="Picture 4" descr="Rabbit Avatar Royalty Free Stock Images - Image: 25770419">
            <a:extLst>
              <a:ext uri="{FF2B5EF4-FFF2-40B4-BE49-F238E27FC236}">
                <a16:creationId xmlns:a16="http://schemas.microsoft.com/office/drawing/2014/main" id="{6499BE32-BD2B-4BD0-BD15-852AE63648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295525"/>
            <a:ext cx="1104900" cy="110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mage result for php avatar cat">
            <a:extLst>
              <a:ext uri="{FF2B5EF4-FFF2-40B4-BE49-F238E27FC236}">
                <a16:creationId xmlns:a16="http://schemas.microsoft.com/office/drawing/2014/main" id="{F104CFB4-727B-4EB3-B9F6-D2B7AE5A68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1298" y="2295525"/>
            <a:ext cx="1104901" cy="1104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https://www.splitbrain.org/lib/exe/fetch.php?cache=nocache&amp;tok=ee9399&amp;media=http%3A%2F%2Fwww.splitbrain.org%2F_static%2Fmonsterid%2Fmonsterid.php%3F.png">
            <a:extLst>
              <a:ext uri="{FF2B5EF4-FFF2-40B4-BE49-F238E27FC236}">
                <a16:creationId xmlns:a16="http://schemas.microsoft.com/office/drawing/2014/main" id="{F23BCF92-4398-4119-B787-692E165296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3250" y="3701284"/>
            <a:ext cx="1324948" cy="1324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Image result for avatar generator">
            <a:extLst>
              <a:ext uri="{FF2B5EF4-FFF2-40B4-BE49-F238E27FC236}">
                <a16:creationId xmlns:a16="http://schemas.microsoft.com/office/drawing/2014/main" id="{DB44FD4E-6EEC-4587-A4CB-66140E291F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1" y="3815272"/>
            <a:ext cx="1104900" cy="1104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651E9721-C065-4CB7-9B55-CC7941460718}"/>
              </a:ext>
            </a:extLst>
          </p:cNvPr>
          <p:cNvSpPr txBox="1">
            <a:spLocks/>
          </p:cNvSpPr>
          <p:nvPr/>
        </p:nvSpPr>
        <p:spPr>
          <a:xfrm>
            <a:off x="838200" y="5414779"/>
            <a:ext cx="9759846" cy="1104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Attempt for mapping all possible properties in one unique avatar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7346957C-4214-4389-A59A-8978D56688FD}"/>
              </a:ext>
            </a:extLst>
          </p:cNvPr>
          <p:cNvSpPr/>
          <p:nvPr/>
        </p:nvSpPr>
        <p:spPr>
          <a:xfrm>
            <a:off x="1183598" y="1549444"/>
            <a:ext cx="9069049" cy="388547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1FCA52BC-6155-4B05-88AE-FEB834F37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3332C-0C3C-4276-86A1-8BD7928AF36A}" type="datetime1">
              <a:rPr lang="en-US" smtClean="0"/>
              <a:t>12/10/2018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E8BBB77F-5903-4088-BE8F-4489090E5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Avarkey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ABB1A27-685D-4295-BF33-1CB82D3D0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59D5-91C1-4E9C-B29B-A30C26C8E36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983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8BA93-EBFD-4F74-9F44-BC7A21A70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Attempt to create an unique avatar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33C466E-79C6-46B5-9A54-862CF835A8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60290"/>
            <a:ext cx="6490474" cy="1599295"/>
          </a:xfr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E0561D6-00E4-4E65-93D2-C050FD9783C2}"/>
              </a:ext>
            </a:extLst>
          </p:cNvPr>
          <p:cNvSpPr txBox="1">
            <a:spLocks/>
          </p:cNvSpPr>
          <p:nvPr/>
        </p:nvSpPr>
        <p:spPr>
          <a:xfrm>
            <a:off x="838200" y="3406782"/>
            <a:ext cx="7178415" cy="8934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Based on hash 256 with an output of 32 bytes</a:t>
            </a:r>
          </a:p>
          <a:p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Organized as mirrored face shaped rectangle</a:t>
            </a:r>
          </a:p>
          <a:p>
            <a:pPr lvl="1"/>
            <a:endParaRPr lang="en-US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04C249A-FAB7-4DBE-9AAC-374F48357F99}"/>
              </a:ext>
            </a:extLst>
          </p:cNvPr>
          <p:cNvSpPr txBox="1">
            <a:spLocks/>
          </p:cNvSpPr>
          <p:nvPr/>
        </p:nvSpPr>
        <p:spPr>
          <a:xfrm>
            <a:off x="980607" y="4725036"/>
            <a:ext cx="3254115" cy="1104900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X</a:t>
            </a: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indent="0" algn="r"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6bit = position, 2 bit =color</a:t>
            </a:r>
          </a:p>
          <a:p>
            <a:endParaRPr lang="en-US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FC65898-60B9-4989-BD0C-1FFDB8C404CE}"/>
              </a:ext>
            </a:extLst>
          </p:cNvPr>
          <p:cNvSpPr txBox="1">
            <a:spLocks/>
          </p:cNvSpPr>
          <p:nvPr/>
        </p:nvSpPr>
        <p:spPr>
          <a:xfrm>
            <a:off x="4972512" y="4729936"/>
            <a:ext cx="3250290" cy="1104900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Y</a:t>
            </a:r>
          </a:p>
          <a:p>
            <a:pPr marL="0" indent="0">
              <a:buNone/>
            </a:pPr>
            <a:endParaRPr lang="en-US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indent="0" algn="r">
              <a:buNone/>
            </a:pP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6bit = position, 2 bit =color</a:t>
            </a:r>
          </a:p>
          <a:p>
            <a:endParaRPr lang="en-US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5EC6256-812B-41C7-BB3E-2CC28A3764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0402848"/>
              </p:ext>
            </p:extLst>
          </p:nvPr>
        </p:nvGraphicFramePr>
        <p:xfrm>
          <a:off x="1265418" y="4635967"/>
          <a:ext cx="2969304" cy="7315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71163">
                  <a:extLst>
                    <a:ext uri="{9D8B030D-6E8A-4147-A177-3AD203B41FA5}">
                      <a16:colId xmlns:a16="http://schemas.microsoft.com/office/drawing/2014/main" val="2835397947"/>
                    </a:ext>
                  </a:extLst>
                </a:gridCol>
                <a:gridCol w="371163">
                  <a:extLst>
                    <a:ext uri="{9D8B030D-6E8A-4147-A177-3AD203B41FA5}">
                      <a16:colId xmlns:a16="http://schemas.microsoft.com/office/drawing/2014/main" val="559722382"/>
                    </a:ext>
                  </a:extLst>
                </a:gridCol>
                <a:gridCol w="371163">
                  <a:extLst>
                    <a:ext uri="{9D8B030D-6E8A-4147-A177-3AD203B41FA5}">
                      <a16:colId xmlns:a16="http://schemas.microsoft.com/office/drawing/2014/main" val="1633561940"/>
                    </a:ext>
                  </a:extLst>
                </a:gridCol>
                <a:gridCol w="371163">
                  <a:extLst>
                    <a:ext uri="{9D8B030D-6E8A-4147-A177-3AD203B41FA5}">
                      <a16:colId xmlns:a16="http://schemas.microsoft.com/office/drawing/2014/main" val="777605411"/>
                    </a:ext>
                  </a:extLst>
                </a:gridCol>
                <a:gridCol w="371163">
                  <a:extLst>
                    <a:ext uri="{9D8B030D-6E8A-4147-A177-3AD203B41FA5}">
                      <a16:colId xmlns:a16="http://schemas.microsoft.com/office/drawing/2014/main" val="3691125742"/>
                    </a:ext>
                  </a:extLst>
                </a:gridCol>
                <a:gridCol w="371163">
                  <a:extLst>
                    <a:ext uri="{9D8B030D-6E8A-4147-A177-3AD203B41FA5}">
                      <a16:colId xmlns:a16="http://schemas.microsoft.com/office/drawing/2014/main" val="3751304013"/>
                    </a:ext>
                  </a:extLst>
                </a:gridCol>
                <a:gridCol w="371163">
                  <a:extLst>
                    <a:ext uri="{9D8B030D-6E8A-4147-A177-3AD203B41FA5}">
                      <a16:colId xmlns:a16="http://schemas.microsoft.com/office/drawing/2014/main" val="4241206257"/>
                    </a:ext>
                  </a:extLst>
                </a:gridCol>
                <a:gridCol w="371163">
                  <a:extLst>
                    <a:ext uri="{9D8B030D-6E8A-4147-A177-3AD203B41FA5}">
                      <a16:colId xmlns:a16="http://schemas.microsoft.com/office/drawing/2014/main" val="1894812408"/>
                    </a:ext>
                  </a:extLst>
                </a:gridCol>
              </a:tblGrid>
              <a:tr h="364796">
                <a:tc gridSpan="4">
                  <a:txBody>
                    <a:bodyPr/>
                    <a:lstStyle/>
                    <a:p>
                      <a:pPr algn="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2405701"/>
                  </a:ext>
                </a:extLst>
              </a:tr>
              <a:tr h="364796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651407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AA972D6-4397-43F0-AABA-3D70BD3D91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5741940"/>
              </p:ext>
            </p:extLst>
          </p:nvPr>
        </p:nvGraphicFramePr>
        <p:xfrm>
          <a:off x="5253498" y="4640867"/>
          <a:ext cx="2969304" cy="7315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71163">
                  <a:extLst>
                    <a:ext uri="{9D8B030D-6E8A-4147-A177-3AD203B41FA5}">
                      <a16:colId xmlns:a16="http://schemas.microsoft.com/office/drawing/2014/main" val="2835397947"/>
                    </a:ext>
                  </a:extLst>
                </a:gridCol>
                <a:gridCol w="371163">
                  <a:extLst>
                    <a:ext uri="{9D8B030D-6E8A-4147-A177-3AD203B41FA5}">
                      <a16:colId xmlns:a16="http://schemas.microsoft.com/office/drawing/2014/main" val="1210933761"/>
                    </a:ext>
                  </a:extLst>
                </a:gridCol>
                <a:gridCol w="371163">
                  <a:extLst>
                    <a:ext uri="{9D8B030D-6E8A-4147-A177-3AD203B41FA5}">
                      <a16:colId xmlns:a16="http://schemas.microsoft.com/office/drawing/2014/main" val="2033386858"/>
                    </a:ext>
                  </a:extLst>
                </a:gridCol>
                <a:gridCol w="371163">
                  <a:extLst>
                    <a:ext uri="{9D8B030D-6E8A-4147-A177-3AD203B41FA5}">
                      <a16:colId xmlns:a16="http://schemas.microsoft.com/office/drawing/2014/main" val="2359403501"/>
                    </a:ext>
                  </a:extLst>
                </a:gridCol>
                <a:gridCol w="371163">
                  <a:extLst>
                    <a:ext uri="{9D8B030D-6E8A-4147-A177-3AD203B41FA5}">
                      <a16:colId xmlns:a16="http://schemas.microsoft.com/office/drawing/2014/main" val="3691125742"/>
                    </a:ext>
                  </a:extLst>
                </a:gridCol>
                <a:gridCol w="371163">
                  <a:extLst>
                    <a:ext uri="{9D8B030D-6E8A-4147-A177-3AD203B41FA5}">
                      <a16:colId xmlns:a16="http://schemas.microsoft.com/office/drawing/2014/main" val="3575998461"/>
                    </a:ext>
                  </a:extLst>
                </a:gridCol>
                <a:gridCol w="371163">
                  <a:extLst>
                    <a:ext uri="{9D8B030D-6E8A-4147-A177-3AD203B41FA5}">
                      <a16:colId xmlns:a16="http://schemas.microsoft.com/office/drawing/2014/main" val="3574614299"/>
                    </a:ext>
                  </a:extLst>
                </a:gridCol>
                <a:gridCol w="371163">
                  <a:extLst>
                    <a:ext uri="{9D8B030D-6E8A-4147-A177-3AD203B41FA5}">
                      <a16:colId xmlns:a16="http://schemas.microsoft.com/office/drawing/2014/main" val="2856215424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pPr algn="r"/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24057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320804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D3EF22E0-7620-412B-A0BB-6398E65CFD97}"/>
              </a:ext>
            </a:extLst>
          </p:cNvPr>
          <p:cNvSpPr/>
          <p:nvPr/>
        </p:nvSpPr>
        <p:spPr>
          <a:xfrm>
            <a:off x="838200" y="4511682"/>
            <a:ext cx="3533781" cy="15296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D525BC9-B2CD-4896-B9EF-185F3CA7F8FA}"/>
              </a:ext>
            </a:extLst>
          </p:cNvPr>
          <p:cNvSpPr/>
          <p:nvPr/>
        </p:nvSpPr>
        <p:spPr>
          <a:xfrm>
            <a:off x="4608776" y="4511682"/>
            <a:ext cx="3745091" cy="15296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12E975AE-783E-45B4-90D6-7A1F3CC3B79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05133" y="6041362"/>
            <a:ext cx="911939" cy="365125"/>
          </a:xfrm>
        </p:spPr>
        <p:txBody>
          <a:bodyPr/>
          <a:lstStyle/>
          <a:p>
            <a:fld id="{7FC12C55-23C6-4051-A8FF-0FD18B6B07F2}" type="datetime1">
              <a:rPr lang="en-US" smtClean="0"/>
              <a:t>12/10/2018</a:t>
            </a:fld>
            <a:endParaRPr lang="en-US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A9259FF0-58E0-424F-8538-A1CB79ACB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/>
              <a:t>Avarkey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E0B45EBC-7805-4DC1-BFC2-2C4965464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59D5-91C1-4E9C-B29B-A30C26C8E36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938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6B53E-4B43-4D0C-A27E-7991A40A5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Combination of </a:t>
            </a:r>
            <a:r>
              <a:rPr lang="en-US" dirty="0" err="1"/>
              <a:t>voronio</a:t>
            </a:r>
            <a:r>
              <a:rPr lang="en-US" dirty="0"/>
              <a:t> and art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9ADC560-2191-4A6E-8CCC-33D94DB9CF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6813" y="1540472"/>
            <a:ext cx="1770089" cy="1770089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0716127-E7CA-4BA6-8406-CC9752BE17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495" y="1540473"/>
            <a:ext cx="1770089" cy="17700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91864E3-1B9E-4DD4-BB01-479B3BD0E43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0131" y="1540472"/>
            <a:ext cx="1770089" cy="1770089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E966799-AB65-4184-A894-65D2A224B31E}"/>
              </a:ext>
            </a:extLst>
          </p:cNvPr>
          <p:cNvSpPr txBox="1">
            <a:spLocks/>
          </p:cNvSpPr>
          <p:nvPr/>
        </p:nvSpPr>
        <p:spPr>
          <a:xfrm>
            <a:off x="7896088" y="3429001"/>
            <a:ext cx="3106210" cy="1770089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low polygon effect by photoshop,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based of hash256 all possible properties decoded into colors and variable shapes of head properties</a:t>
            </a:r>
          </a:p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EF516F9-4499-4146-BC4F-B3027E8E2B99}"/>
              </a:ext>
            </a:extLst>
          </p:cNvPr>
          <p:cNvSpPr txBox="1">
            <a:spLocks/>
          </p:cNvSpPr>
          <p:nvPr/>
        </p:nvSpPr>
        <p:spPr>
          <a:xfrm>
            <a:off x="653641" y="3429000"/>
            <a:ext cx="3294715" cy="23584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based on idea by </a:t>
            </a:r>
            <a:r>
              <a:rPr lang="en-US" sz="2000" dirty="0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Vladyslav</a:t>
            </a:r>
            <a:r>
              <a:rPr lang="en-US" sz="2000" dirty="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Kobylchenko</a:t>
            </a:r>
            <a:endParaRPr lang="en-US" sz="2000" dirty="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difficult to memorize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end points were decoded by an 1-8 matrix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defined as final head shape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0FBA29D-D630-4DEB-9A86-91DE2CEBD368}"/>
              </a:ext>
            </a:extLst>
          </p:cNvPr>
          <p:cNvSpPr txBox="1">
            <a:spLocks/>
          </p:cNvSpPr>
          <p:nvPr/>
        </p:nvSpPr>
        <p:spPr>
          <a:xfrm>
            <a:off x="4231596" y="3429000"/>
            <a:ext cx="3540804" cy="27487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based on idea by </a:t>
            </a:r>
            <a:r>
              <a:rPr lang="en-US" sz="2000" dirty="0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Vladyslav</a:t>
            </a:r>
            <a:r>
              <a:rPr lang="en-US" sz="2000" dirty="0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ea typeface="Malgun Gothic" panose="020B0503020000020004" pitchFamily="34" charset="-127"/>
                <a:cs typeface="Arial" panose="020B0604020202020204" pitchFamily="34" charset="0"/>
              </a:rPr>
              <a:t>Kobylchenko</a:t>
            </a:r>
            <a:endParaRPr lang="en-US" sz="2000" dirty="0">
              <a:latin typeface="Arial" panose="020B0604020202020204" pitchFamily="34" charset="0"/>
              <a:ea typeface="Malgun Gothic" panose="020B0503020000020004" pitchFamily="34" charset="-127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Fixed position of triangles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Based of hash256 all possible properties decoded into colors and variable shapes of triangles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F35BEB6E-3F01-4533-9973-C0DB64D66FAD}"/>
              </a:ext>
            </a:extLst>
          </p:cNvPr>
          <p:cNvSpPr/>
          <p:nvPr/>
        </p:nvSpPr>
        <p:spPr>
          <a:xfrm>
            <a:off x="1356291" y="5831695"/>
            <a:ext cx="9069049" cy="388547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DADB2B36-AD1F-4DCB-BB9E-FED6D5220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24662-2A2F-477D-BFAF-2B6A2B19D126}" type="datetime1">
              <a:rPr lang="en-US" smtClean="0"/>
              <a:t>12/10/2018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2619782-3C77-406E-A85F-3499D8CF2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Avarkey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9848F4E9-5F07-487A-8F9F-8AD9E4AF2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59D5-91C1-4E9C-B29B-A30C26C8E36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50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57C16-DD7E-4999-8D78-4A267F2BD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Crowd supported art and variation</a:t>
            </a:r>
          </a:p>
        </p:txBody>
      </p:sp>
      <p:pic>
        <p:nvPicPr>
          <p:cNvPr id="4" name="Picture 6" descr="Image result for php avatar cat">
            <a:extLst>
              <a:ext uri="{FF2B5EF4-FFF2-40B4-BE49-F238E27FC236}">
                <a16:creationId xmlns:a16="http://schemas.microsoft.com/office/drawing/2014/main" id="{2F59F1E1-AC05-4642-9737-972945883A1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932" y="2074863"/>
            <a:ext cx="24384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DA49B1B-C89E-41B7-A948-87AED093399D}"/>
              </a:ext>
            </a:extLst>
          </p:cNvPr>
          <p:cNvSpPr txBox="1">
            <a:spLocks/>
          </p:cNvSpPr>
          <p:nvPr/>
        </p:nvSpPr>
        <p:spPr>
          <a:xfrm>
            <a:off x="3686332" y="1690688"/>
            <a:ext cx="2438400" cy="42004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background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body</a:t>
            </a:r>
          </a:p>
          <a:p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f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ur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eyes</a:t>
            </a:r>
          </a:p>
          <a:p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m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outh</a:t>
            </a:r>
          </a:p>
          <a:p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Fur</a:t>
            </a:r>
          </a:p>
          <a:p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o</a:t>
            </a:r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thers</a:t>
            </a:r>
          </a:p>
          <a:p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more</a:t>
            </a:r>
            <a:endParaRPr lang="en-US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4CD0608-6304-47E1-99E7-01A8B9A9253A}"/>
              </a:ext>
            </a:extLst>
          </p:cNvPr>
          <p:cNvSpPr txBox="1">
            <a:spLocks/>
          </p:cNvSpPr>
          <p:nvPr/>
        </p:nvSpPr>
        <p:spPr>
          <a:xfrm>
            <a:off x="8534401" y="1690688"/>
            <a:ext cx="2438400" cy="42004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background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body</a:t>
            </a:r>
          </a:p>
          <a:p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arms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foots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eyes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mouth</a:t>
            </a:r>
          </a:p>
          <a:p>
            <a:r>
              <a:rPr lang="en-US" b="0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accessorie</a:t>
            </a:r>
            <a:endParaRPr lang="en-US" b="0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</a:rPr>
              <a:t>hairs</a:t>
            </a:r>
            <a:endParaRPr lang="en-US" dirty="0"/>
          </a:p>
        </p:txBody>
      </p:sp>
      <p:pic>
        <p:nvPicPr>
          <p:cNvPr id="2050" name="Picture 2" descr="Image result for avatar generator">
            <a:extLst>
              <a:ext uri="{FF2B5EF4-FFF2-40B4-BE49-F238E27FC236}">
                <a16:creationId xmlns:a16="http://schemas.microsoft.com/office/drawing/2014/main" id="{8D2BA7C5-4322-425F-9E9C-A320281011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1" y="2222500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Arrow: Left-Right 10">
            <a:extLst>
              <a:ext uri="{FF2B5EF4-FFF2-40B4-BE49-F238E27FC236}">
                <a16:creationId xmlns:a16="http://schemas.microsoft.com/office/drawing/2014/main" id="{1CD23817-66D1-4ACE-9CA3-D49E39088AF0}"/>
              </a:ext>
            </a:extLst>
          </p:cNvPr>
          <p:cNvSpPr/>
          <p:nvPr/>
        </p:nvSpPr>
        <p:spPr>
          <a:xfrm>
            <a:off x="2236032" y="5832189"/>
            <a:ext cx="7719935" cy="315912"/>
          </a:xfrm>
          <a:prstGeom prst="left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AAD90EFF-9258-4968-AB74-2C84F56F5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9EAE1-B690-4B84-B4F0-3CBA545AD52F}" type="datetime1">
              <a:rPr lang="en-US" smtClean="0"/>
              <a:t>12/10/2018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AD009E6E-0C0B-4396-9A45-EA779AD79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Avarkey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B75F51A7-9E46-42CB-B5CA-74D91657B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59D5-91C1-4E9C-B29B-A30C26C8E36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704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C47DC-2EBF-47AF-BBA9-580F1C7B4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Layered generation tool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FAD1C6-77A5-4317-A523-6A5234D363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588" y="1930400"/>
            <a:ext cx="3511894" cy="4062896"/>
          </a:xfrm>
        </p:spPr>
        <p:txBody>
          <a:bodyPr/>
          <a:lstStyle/>
          <a:p>
            <a:r>
              <a:rPr lang="en-US" dirty="0"/>
              <a:t>User and Role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Avatar creating process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Graphic 4" descr="Users">
            <a:extLst>
              <a:ext uri="{FF2B5EF4-FFF2-40B4-BE49-F238E27FC236}">
                <a16:creationId xmlns:a16="http://schemas.microsoft.com/office/drawing/2014/main" id="{D51BAC6F-5C42-4FA8-9523-BB5C7FEEE5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4952" y="2256235"/>
            <a:ext cx="1510192" cy="1510192"/>
          </a:xfrm>
          <a:prstGeom prst="rect">
            <a:avLst/>
          </a:prstGeom>
        </p:spPr>
      </p:pic>
      <p:pic>
        <p:nvPicPr>
          <p:cNvPr id="3074" name="Picture 2" descr="Image result for layer images">
            <a:extLst>
              <a:ext uri="{FF2B5EF4-FFF2-40B4-BE49-F238E27FC236}">
                <a16:creationId xmlns:a16="http://schemas.microsoft.com/office/drawing/2014/main" id="{44489C35-F1EE-430C-BAF6-4744C1DE5A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952" y="4353802"/>
            <a:ext cx="3114675" cy="1466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ECD9A38-1196-4C7D-8677-4C67CCAD30F3}"/>
              </a:ext>
            </a:extLst>
          </p:cNvPr>
          <p:cNvSpPr txBox="1">
            <a:spLocks/>
          </p:cNvSpPr>
          <p:nvPr/>
        </p:nvSpPr>
        <p:spPr>
          <a:xfrm>
            <a:off x="4975668" y="1904409"/>
            <a:ext cx="4941301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Database overview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Api</a:t>
            </a:r>
            <a:r>
              <a:rPr lang="en-US" dirty="0"/>
              <a:t> Overview</a:t>
            </a:r>
          </a:p>
        </p:txBody>
      </p:sp>
      <p:pic>
        <p:nvPicPr>
          <p:cNvPr id="3076" name="Picture 4" descr="Image result for database user">
            <a:extLst>
              <a:ext uri="{FF2B5EF4-FFF2-40B4-BE49-F238E27FC236}">
                <a16:creationId xmlns:a16="http://schemas.microsoft.com/office/drawing/2014/main" id="{36A47FBA-9E06-4573-98D4-6B7FC69E9D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5656" y="2245874"/>
            <a:ext cx="2210724" cy="2366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9DA177-0F2E-4B33-9D3D-8FE4D29D5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7B066-E6DF-4163-AEB3-F3D102F5B2E6}" type="datetime1">
              <a:rPr lang="en-US" smtClean="0"/>
              <a:t>12/10/2018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D88DCA4-F61E-4AF9-A8CA-198DC0787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Avarkey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418EEF4-3943-4F37-BFEB-B137FD639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59D5-91C1-4E9C-B29B-A30C26C8E36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4494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EAE5E-F261-4282-8E1A-7CA503E26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Layered generation tool / Roles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21C2D-CC67-4B70-AB7F-224A80AF7C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User</a:t>
            </a:r>
          </a:p>
          <a:p>
            <a:pPr lvl="1"/>
            <a:r>
              <a:rPr lang="en-US" dirty="0"/>
              <a:t>Every user with an profile and possible avatar owner</a:t>
            </a:r>
          </a:p>
          <a:p>
            <a:r>
              <a:rPr lang="en-US" dirty="0"/>
              <a:t>Designer</a:t>
            </a:r>
          </a:p>
          <a:p>
            <a:pPr lvl="1"/>
            <a:r>
              <a:rPr lang="en-US" dirty="0"/>
              <a:t>Create and upload ideas as avatars and different shapes</a:t>
            </a:r>
          </a:p>
          <a:p>
            <a:r>
              <a:rPr lang="en-US" dirty="0"/>
              <a:t>Supervisor</a:t>
            </a:r>
          </a:p>
          <a:p>
            <a:pPr lvl="1"/>
            <a:r>
              <a:rPr lang="en-US" dirty="0"/>
              <a:t>Act as moderator, keep all activities clean</a:t>
            </a:r>
          </a:p>
          <a:p>
            <a:r>
              <a:rPr lang="en-US" dirty="0"/>
              <a:t>Developer</a:t>
            </a:r>
          </a:p>
          <a:p>
            <a:pPr lvl="1"/>
            <a:r>
              <a:rPr lang="en-US" dirty="0"/>
              <a:t>Reuse avatar </a:t>
            </a:r>
            <a:r>
              <a:rPr lang="en-US" dirty="0" err="1"/>
              <a:t>api</a:t>
            </a:r>
            <a:r>
              <a:rPr lang="en-US" dirty="0"/>
              <a:t>, create own wallet, web service, customer support</a:t>
            </a:r>
            <a:br>
              <a:rPr lang="en-US" dirty="0"/>
            </a:br>
            <a:endParaRPr lang="en-US" dirty="0"/>
          </a:p>
          <a:p>
            <a:r>
              <a:rPr lang="en-US" dirty="0"/>
              <a:t>Admin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402513-F92A-411C-8848-36D969EC6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E5369-50A2-4174-8D91-88E99680485C}" type="datetime1">
              <a:rPr lang="en-US" smtClean="0"/>
              <a:t>12/10/2018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AF5859-1FBD-44B2-83ED-EA3B8AAD1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Avarkey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0C2B89-A00C-45BF-80D5-9795AE6C8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59D5-91C1-4E9C-B29B-A30C26C8E36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5642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45E2F-7328-4C86-B4B8-5FAE126F3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Avatar creating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C0B4FB-BD13-4F61-AF00-2D2F259C70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Avatar algorithm based on several layered images</a:t>
            </a:r>
          </a:p>
          <a:p>
            <a:r>
              <a:rPr lang="en-US" dirty="0"/>
              <a:t>composite of these layers is fixed by designer</a:t>
            </a:r>
          </a:p>
          <a:p>
            <a:r>
              <a:rPr lang="en-US" dirty="0"/>
              <a:t>Each layer is filling up </a:t>
            </a:r>
            <a:r>
              <a:rPr lang="en-US" dirty="0" err="1"/>
              <a:t>determinded</a:t>
            </a:r>
            <a:r>
              <a:rPr lang="en-US" dirty="0"/>
              <a:t> by random selection from a number of pictures</a:t>
            </a:r>
          </a:p>
          <a:p>
            <a:r>
              <a:rPr lang="en-US" dirty="0"/>
              <a:t>start point is hashing the given wallet address by sha256</a:t>
            </a:r>
          </a:p>
          <a:p>
            <a:r>
              <a:rPr lang="en-US" dirty="0"/>
              <a:t>result hash value is hashed again with md5 hash</a:t>
            </a:r>
          </a:p>
          <a:p>
            <a:r>
              <a:rPr lang="en-US" dirty="0"/>
              <a:t>last 6 characters of this result will be interpreted as hex value and transformed into decimal value</a:t>
            </a:r>
          </a:p>
          <a:p>
            <a:r>
              <a:rPr lang="en-US" dirty="0"/>
              <a:t>based on this decimal value a seed for random number generator is given</a:t>
            </a:r>
          </a:p>
          <a:p>
            <a:r>
              <a:rPr lang="en-US" dirty="0"/>
              <a:t>used php "</a:t>
            </a:r>
            <a:r>
              <a:rPr lang="en-US" dirty="0" err="1"/>
              <a:t>srand</a:t>
            </a:r>
            <a:r>
              <a:rPr lang="en-US" dirty="0"/>
              <a:t>" method is based on random number generation according to the </a:t>
            </a:r>
            <a:r>
              <a:rPr lang="en-US" dirty="0" err="1"/>
              <a:t>mersenne</a:t>
            </a:r>
            <a:r>
              <a:rPr lang="en-US" dirty="0"/>
              <a:t> twister method (1997 by Makoto Matsumoto)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C0107-0361-4A01-80CE-6FB87F6D6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84E08-2161-442C-B5C0-9CB4F4C88EF0}" type="datetime1">
              <a:rPr lang="en-US" smtClean="0"/>
              <a:t>12/10/2018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E27893-1FC0-49D2-AE8E-8CE0D0523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Avarkey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E5854-948E-4CB7-B01C-631306F35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59D5-91C1-4E9C-B29B-A30C26C8E36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1285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A54EC-3E73-4CE1-BC22-4F536B216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dirty="0"/>
              <a:t>Database </a:t>
            </a:r>
            <a:r>
              <a:rPr lang="en-US" dirty="0" err="1"/>
              <a:t>partitial</a:t>
            </a:r>
            <a:r>
              <a:rPr lang="en-US" dirty="0"/>
              <a:t> overview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E7E7013-09D6-4C17-8821-0B9EE96A6E5C}"/>
              </a:ext>
            </a:extLst>
          </p:cNvPr>
          <p:cNvSpPr/>
          <p:nvPr/>
        </p:nvSpPr>
        <p:spPr>
          <a:xfrm>
            <a:off x="6042631" y="3272706"/>
            <a:ext cx="1592826" cy="89474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USER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96B2D4C-C5EE-4FC0-8052-12467BF3742D}"/>
              </a:ext>
            </a:extLst>
          </p:cNvPr>
          <p:cNvSpPr/>
          <p:nvPr/>
        </p:nvSpPr>
        <p:spPr>
          <a:xfrm>
            <a:off x="7746200" y="1576085"/>
            <a:ext cx="1592826" cy="92914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ROLE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62DAA33-4721-4848-8923-4370825372AE}"/>
              </a:ext>
            </a:extLst>
          </p:cNvPr>
          <p:cNvSpPr/>
          <p:nvPr/>
        </p:nvSpPr>
        <p:spPr>
          <a:xfrm>
            <a:off x="1027325" y="1607078"/>
            <a:ext cx="1592826" cy="92914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HASHTAG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48FEB05-4A89-4913-81D4-5192DEE21304}"/>
              </a:ext>
            </a:extLst>
          </p:cNvPr>
          <p:cNvSpPr/>
          <p:nvPr/>
        </p:nvSpPr>
        <p:spPr>
          <a:xfrm>
            <a:off x="5463226" y="1576085"/>
            <a:ext cx="1592826" cy="92914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PROFILE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6C5860A-5B5B-4C69-981D-BC85E69AD022}"/>
              </a:ext>
            </a:extLst>
          </p:cNvPr>
          <p:cNvSpPr/>
          <p:nvPr/>
        </p:nvSpPr>
        <p:spPr>
          <a:xfrm>
            <a:off x="3219152" y="4702286"/>
            <a:ext cx="1592826" cy="92914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CATEGORY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55F4C44-DD32-42A0-B446-7BD19D4917BE}"/>
              </a:ext>
            </a:extLst>
          </p:cNvPr>
          <p:cNvSpPr/>
          <p:nvPr/>
        </p:nvSpPr>
        <p:spPr>
          <a:xfrm>
            <a:off x="340422" y="3255500"/>
            <a:ext cx="2550380" cy="92914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CATEGORY_HASHTAG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FDB1B6F-3BD2-41B8-AA12-AE83EF525301}"/>
              </a:ext>
            </a:extLst>
          </p:cNvPr>
          <p:cNvSpPr/>
          <p:nvPr/>
        </p:nvSpPr>
        <p:spPr>
          <a:xfrm>
            <a:off x="3219152" y="3255501"/>
            <a:ext cx="2133331" cy="92914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USER_CATEGORY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EBF9107-F9CE-4191-B924-6C6E0FCC1F62}"/>
              </a:ext>
            </a:extLst>
          </p:cNvPr>
          <p:cNvSpPr/>
          <p:nvPr/>
        </p:nvSpPr>
        <p:spPr>
          <a:xfrm>
            <a:off x="5516471" y="4706687"/>
            <a:ext cx="1592826" cy="92914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LAYER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2F3259A-CA75-47CD-ABAD-F4E6D01A561B}"/>
              </a:ext>
            </a:extLst>
          </p:cNvPr>
          <p:cNvSpPr/>
          <p:nvPr/>
        </p:nvSpPr>
        <p:spPr>
          <a:xfrm>
            <a:off x="7746200" y="4702287"/>
            <a:ext cx="1592826" cy="92914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FILE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83B81DF-72B5-4EAD-9B92-51D36C68F619}"/>
              </a:ext>
            </a:extLst>
          </p:cNvPr>
          <p:cNvSpPr/>
          <p:nvPr/>
        </p:nvSpPr>
        <p:spPr>
          <a:xfrm>
            <a:off x="3245276" y="1607079"/>
            <a:ext cx="1592826" cy="92914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APIKEY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C2D7052-3C0B-4B37-92E4-9CBB2F5A3000}"/>
              </a:ext>
            </a:extLst>
          </p:cNvPr>
          <p:cNvCxnSpPr>
            <a:cxnSpLocks/>
            <a:stCxn id="8" idx="1"/>
            <a:endCxn id="7" idx="0"/>
          </p:cNvCxnSpPr>
          <p:nvPr/>
        </p:nvCxnSpPr>
        <p:spPr>
          <a:xfrm flipH="1">
            <a:off x="6839044" y="2040660"/>
            <a:ext cx="907156" cy="1232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A0547CA-E4BB-49E2-987D-07465CC88C95}"/>
              </a:ext>
            </a:extLst>
          </p:cNvPr>
          <p:cNvCxnSpPr>
            <a:cxnSpLocks/>
            <a:stCxn id="7" idx="0"/>
            <a:endCxn id="18" idx="2"/>
          </p:cNvCxnSpPr>
          <p:nvPr/>
        </p:nvCxnSpPr>
        <p:spPr>
          <a:xfrm flipH="1" flipV="1">
            <a:off x="4041689" y="2536228"/>
            <a:ext cx="2797355" cy="7364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00EB0B2-4111-4134-911D-DE001774E6FA}"/>
              </a:ext>
            </a:extLst>
          </p:cNvPr>
          <p:cNvCxnSpPr>
            <a:cxnSpLocks/>
            <a:stCxn id="7" idx="0"/>
            <a:endCxn id="11" idx="2"/>
          </p:cNvCxnSpPr>
          <p:nvPr/>
        </p:nvCxnSpPr>
        <p:spPr>
          <a:xfrm flipH="1" flipV="1">
            <a:off x="6259639" y="2505234"/>
            <a:ext cx="579405" cy="7674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AF887AF-A120-4864-9FFC-5042B73031C4}"/>
              </a:ext>
            </a:extLst>
          </p:cNvPr>
          <p:cNvCxnSpPr>
            <a:cxnSpLocks/>
            <a:stCxn id="7" idx="2"/>
            <a:endCxn id="16" idx="0"/>
          </p:cNvCxnSpPr>
          <p:nvPr/>
        </p:nvCxnSpPr>
        <p:spPr>
          <a:xfrm flipH="1">
            <a:off x="6312884" y="4167446"/>
            <a:ext cx="526160" cy="5392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4D397B2-C1C8-4399-A418-A28E881F7C75}"/>
              </a:ext>
            </a:extLst>
          </p:cNvPr>
          <p:cNvCxnSpPr>
            <a:cxnSpLocks/>
            <a:stCxn id="10" idx="2"/>
            <a:endCxn id="14" idx="0"/>
          </p:cNvCxnSpPr>
          <p:nvPr/>
        </p:nvCxnSpPr>
        <p:spPr>
          <a:xfrm flipH="1">
            <a:off x="1615612" y="2536227"/>
            <a:ext cx="208126" cy="7192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C77D902E-56B2-4659-B9F6-EED44BBEFF4E}"/>
              </a:ext>
            </a:extLst>
          </p:cNvPr>
          <p:cNvCxnSpPr>
            <a:cxnSpLocks/>
            <a:stCxn id="13" idx="1"/>
            <a:endCxn id="14" idx="2"/>
          </p:cNvCxnSpPr>
          <p:nvPr/>
        </p:nvCxnSpPr>
        <p:spPr>
          <a:xfrm flipH="1" flipV="1">
            <a:off x="1615612" y="4184649"/>
            <a:ext cx="1603540" cy="9822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B755AE13-98ED-4F94-B729-7A11BC0E6C90}"/>
              </a:ext>
            </a:extLst>
          </p:cNvPr>
          <p:cNvCxnSpPr>
            <a:cxnSpLocks/>
            <a:stCxn id="16" idx="3"/>
            <a:endCxn id="17" idx="1"/>
          </p:cNvCxnSpPr>
          <p:nvPr/>
        </p:nvCxnSpPr>
        <p:spPr>
          <a:xfrm flipV="1">
            <a:off x="7109297" y="5166862"/>
            <a:ext cx="636903" cy="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AD7B886F-1BBD-4ED2-8F92-DDA37CCC0B22}"/>
              </a:ext>
            </a:extLst>
          </p:cNvPr>
          <p:cNvCxnSpPr>
            <a:cxnSpLocks/>
            <a:stCxn id="15" idx="3"/>
            <a:endCxn id="7" idx="1"/>
          </p:cNvCxnSpPr>
          <p:nvPr/>
        </p:nvCxnSpPr>
        <p:spPr>
          <a:xfrm>
            <a:off x="5352483" y="3720076"/>
            <a:ext cx="6901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35D5E852-B0BF-429E-AD98-D649664981F0}"/>
              </a:ext>
            </a:extLst>
          </p:cNvPr>
          <p:cNvCxnSpPr>
            <a:cxnSpLocks/>
            <a:stCxn id="15" idx="2"/>
            <a:endCxn id="13" idx="0"/>
          </p:cNvCxnSpPr>
          <p:nvPr/>
        </p:nvCxnSpPr>
        <p:spPr>
          <a:xfrm flipH="1">
            <a:off x="4015565" y="4184650"/>
            <a:ext cx="270253" cy="5176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EFA4074F-E4F0-49F5-ADAA-15A442B2E922}"/>
              </a:ext>
            </a:extLst>
          </p:cNvPr>
          <p:cNvCxnSpPr>
            <a:cxnSpLocks/>
            <a:stCxn id="7" idx="2"/>
            <a:endCxn id="17" idx="0"/>
          </p:cNvCxnSpPr>
          <p:nvPr/>
        </p:nvCxnSpPr>
        <p:spPr>
          <a:xfrm>
            <a:off x="6839044" y="4167446"/>
            <a:ext cx="1703569" cy="5348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Arrow Connector 231">
            <a:extLst>
              <a:ext uri="{FF2B5EF4-FFF2-40B4-BE49-F238E27FC236}">
                <a16:creationId xmlns:a16="http://schemas.microsoft.com/office/drawing/2014/main" id="{CA5F44B0-CD78-448B-A439-172B82B5D2EB}"/>
              </a:ext>
            </a:extLst>
          </p:cNvPr>
          <p:cNvCxnSpPr>
            <a:cxnSpLocks/>
            <a:stCxn id="13" idx="3"/>
            <a:endCxn id="16" idx="1"/>
          </p:cNvCxnSpPr>
          <p:nvPr/>
        </p:nvCxnSpPr>
        <p:spPr>
          <a:xfrm>
            <a:off x="4811978" y="5166861"/>
            <a:ext cx="704493" cy="44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2" name="Date Placeholder 241">
            <a:extLst>
              <a:ext uri="{FF2B5EF4-FFF2-40B4-BE49-F238E27FC236}">
                <a16:creationId xmlns:a16="http://schemas.microsoft.com/office/drawing/2014/main" id="{18A51CCB-9CE7-4497-8033-35B7E373A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FBBEA-ACF4-48A8-A51F-D14733D6E7ED}" type="datetime1">
              <a:rPr lang="en-US" smtClean="0"/>
              <a:t>12/10/2018</a:t>
            </a:fld>
            <a:endParaRPr lang="en-US"/>
          </a:p>
        </p:txBody>
      </p:sp>
      <p:sp>
        <p:nvSpPr>
          <p:cNvPr id="243" name="Footer Placeholder 242">
            <a:extLst>
              <a:ext uri="{FF2B5EF4-FFF2-40B4-BE49-F238E27FC236}">
                <a16:creationId xmlns:a16="http://schemas.microsoft.com/office/drawing/2014/main" id="{638AB42A-9B77-4A60-817E-E387177D9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Avarkey</a:t>
            </a:r>
          </a:p>
        </p:txBody>
      </p:sp>
      <p:sp>
        <p:nvSpPr>
          <p:cNvPr id="244" name="Slide Number Placeholder 243">
            <a:extLst>
              <a:ext uri="{FF2B5EF4-FFF2-40B4-BE49-F238E27FC236}">
                <a16:creationId xmlns:a16="http://schemas.microsoft.com/office/drawing/2014/main" id="{E646EB09-1BE6-478B-A879-D95D301E9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59D5-91C1-4E9C-B29B-A30C26C8E36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5045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79D28-4FF4-474F-A36A-19FEA88F2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Api</a:t>
            </a:r>
            <a:r>
              <a:rPr lang="en-US" dirty="0"/>
              <a:t>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5AED5-88A4-4BC0-BCB1-37F3A5C62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209" y="2760595"/>
            <a:ext cx="1604890" cy="3447731"/>
          </a:xfrm>
        </p:spPr>
        <p:txBody>
          <a:bodyPr>
            <a:normAutofit/>
          </a:bodyPr>
          <a:lstStyle/>
          <a:p>
            <a:r>
              <a:rPr lang="en-US" dirty="0" err="1"/>
              <a:t>Apikey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6E34B52-F14F-4B2C-A6C9-05D601FB759C}"/>
              </a:ext>
            </a:extLst>
          </p:cNvPr>
          <p:cNvSpPr txBox="1">
            <a:spLocks/>
          </p:cNvSpPr>
          <p:nvPr/>
        </p:nvSpPr>
        <p:spPr>
          <a:xfrm>
            <a:off x="2597579" y="2758689"/>
            <a:ext cx="1787313" cy="34496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Signup</a:t>
            </a:r>
          </a:p>
          <a:p>
            <a:r>
              <a:rPr lang="en-US" dirty="0"/>
              <a:t>Login</a:t>
            </a:r>
          </a:p>
          <a:p>
            <a:r>
              <a:rPr lang="en-US" dirty="0"/>
              <a:t>Logout</a:t>
            </a:r>
          </a:p>
          <a:p>
            <a:r>
              <a:rPr lang="en-US" dirty="0"/>
              <a:t>Close</a:t>
            </a:r>
          </a:p>
          <a:p>
            <a:r>
              <a:rPr lang="en-US" dirty="0"/>
              <a:t>Profile</a:t>
            </a:r>
          </a:p>
          <a:p>
            <a:r>
              <a:rPr lang="en-US" dirty="0"/>
              <a:t>Password</a:t>
            </a:r>
          </a:p>
          <a:p>
            <a:r>
              <a:rPr lang="en-US" dirty="0"/>
              <a:t>Role</a:t>
            </a:r>
          </a:p>
          <a:p>
            <a:r>
              <a:rPr lang="en-US" dirty="0"/>
              <a:t>Designer</a:t>
            </a:r>
          </a:p>
          <a:p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7D6CBBC-59C5-49CF-8B29-F12F20731C6D}"/>
              </a:ext>
            </a:extLst>
          </p:cNvPr>
          <p:cNvSpPr txBox="1">
            <a:spLocks/>
          </p:cNvSpPr>
          <p:nvPr/>
        </p:nvSpPr>
        <p:spPr>
          <a:xfrm>
            <a:off x="4758372" y="2758689"/>
            <a:ext cx="1787313" cy="34496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Create</a:t>
            </a:r>
          </a:p>
          <a:p>
            <a:r>
              <a:rPr lang="en-US" dirty="0"/>
              <a:t>Category</a:t>
            </a:r>
          </a:p>
          <a:p>
            <a:r>
              <a:rPr lang="en-US" dirty="0"/>
              <a:t>Hashtag</a:t>
            </a:r>
          </a:p>
          <a:p>
            <a:r>
              <a:rPr lang="en-US" dirty="0"/>
              <a:t>Layer</a:t>
            </a:r>
          </a:p>
          <a:p>
            <a:r>
              <a:rPr lang="en-US" dirty="0"/>
              <a:t>Upload</a:t>
            </a:r>
          </a:p>
          <a:p>
            <a:r>
              <a:rPr lang="en-US" dirty="0"/>
              <a:t>Price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5FF1E9B-A8E9-4821-8D07-373EB3AB52BB}"/>
              </a:ext>
            </a:extLst>
          </p:cNvPr>
          <p:cNvSpPr txBox="1">
            <a:spLocks/>
          </p:cNvSpPr>
          <p:nvPr/>
        </p:nvSpPr>
        <p:spPr>
          <a:xfrm>
            <a:off x="6919165" y="2758689"/>
            <a:ext cx="1787313" cy="34496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Title</a:t>
            </a:r>
          </a:p>
          <a:p>
            <a:r>
              <a:rPr lang="en-US" dirty="0"/>
              <a:t>Currency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F95253-6368-469F-9082-3ABD90EBDB21}"/>
              </a:ext>
            </a:extLst>
          </p:cNvPr>
          <p:cNvSpPr txBox="1"/>
          <p:nvPr/>
        </p:nvSpPr>
        <p:spPr>
          <a:xfrm>
            <a:off x="677334" y="1930400"/>
            <a:ext cx="1787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developers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637939-B22A-404B-82B6-71358DD34E79}"/>
              </a:ext>
            </a:extLst>
          </p:cNvPr>
          <p:cNvSpPr txBox="1"/>
          <p:nvPr/>
        </p:nvSpPr>
        <p:spPr>
          <a:xfrm>
            <a:off x="2647068" y="1930400"/>
            <a:ext cx="15263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user </a:t>
            </a:r>
          </a:p>
          <a:p>
            <a:r>
              <a:rPr lang="en-US" dirty="0"/>
              <a:t>management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C3B79B-481B-44D2-9D23-B4330DA1C6D8}"/>
              </a:ext>
            </a:extLst>
          </p:cNvPr>
          <p:cNvSpPr txBox="1"/>
          <p:nvPr/>
        </p:nvSpPr>
        <p:spPr>
          <a:xfrm>
            <a:off x="4635394" y="1925291"/>
            <a:ext cx="18806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avatar </a:t>
            </a:r>
          </a:p>
          <a:p>
            <a:r>
              <a:rPr lang="en-US" dirty="0"/>
              <a:t>creation process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F98C87-0430-454A-AB47-D3A1A0A55BA6}"/>
              </a:ext>
            </a:extLst>
          </p:cNvPr>
          <p:cNvSpPr txBox="1"/>
          <p:nvPr/>
        </p:nvSpPr>
        <p:spPr>
          <a:xfrm>
            <a:off x="6869607" y="1925290"/>
            <a:ext cx="14237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common</a:t>
            </a:r>
          </a:p>
          <a:p>
            <a:r>
              <a:rPr lang="en-US" dirty="0"/>
              <a:t>cases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161FEBE1-A121-4149-9FAD-032B9AB1F9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54B7E-951F-405E-B2F9-A231E018B7BD}" type="datetime1">
              <a:rPr lang="en-US" smtClean="0"/>
              <a:t>12/10/2018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EB3A2FFE-9195-49B6-9A07-BB63190F5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Avarkey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2B049C8-FAA1-4982-A09A-2AB61010A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59D5-91C1-4E9C-B29B-A30C26C8E36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726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E3549-F4BC-441E-A231-D99722EE3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for user interaction (password)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A8E42-E268-46C7-A249-55ED238F5C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User want to renew his password</a:t>
            </a:r>
          </a:p>
          <a:p>
            <a:r>
              <a:rPr lang="en-US" dirty="0"/>
              <a:t>User navigate to password forget page</a:t>
            </a:r>
          </a:p>
          <a:p>
            <a:r>
              <a:rPr lang="en-US" dirty="0" err="1"/>
              <a:t>Api</a:t>
            </a:r>
            <a:r>
              <a:rPr lang="en-US" dirty="0"/>
              <a:t> call for password after user selected role and inserted identify and </a:t>
            </a:r>
            <a:r>
              <a:rPr lang="en-US" dirty="0" err="1"/>
              <a:t>eMail</a:t>
            </a:r>
            <a:endParaRPr lang="en-US" dirty="0"/>
          </a:p>
          <a:p>
            <a:r>
              <a:rPr lang="en-US" dirty="0"/>
              <a:t>User get confirmation </a:t>
            </a:r>
            <a:r>
              <a:rPr lang="en-US" dirty="0" err="1"/>
              <a:t>eMail</a:t>
            </a:r>
            <a:endParaRPr lang="en-US" dirty="0"/>
          </a:p>
          <a:p>
            <a:r>
              <a:rPr lang="en-US" dirty="0"/>
              <a:t>User has 15 min time to confirm</a:t>
            </a:r>
          </a:p>
          <a:p>
            <a:r>
              <a:rPr lang="en-US" dirty="0"/>
              <a:t>User click link inside confirmation </a:t>
            </a:r>
            <a:r>
              <a:rPr lang="en-US" dirty="0" err="1"/>
              <a:t>eMail</a:t>
            </a:r>
            <a:endParaRPr lang="en-US" dirty="0"/>
          </a:p>
          <a:p>
            <a:r>
              <a:rPr lang="en-US" dirty="0"/>
              <a:t>User is guided to web interface</a:t>
            </a:r>
          </a:p>
          <a:p>
            <a:r>
              <a:rPr lang="en-US" dirty="0"/>
              <a:t>Web interface called </a:t>
            </a:r>
            <a:r>
              <a:rPr lang="en-US" dirty="0" err="1"/>
              <a:t>api</a:t>
            </a:r>
            <a:r>
              <a:rPr lang="en-US" dirty="0"/>
              <a:t> for confirmation password process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981486-9F0C-47CA-97DC-0D8CBDCDF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472D6-7EC5-425B-800B-519AC0CF801C}" type="datetime1">
              <a:rPr lang="en-US" smtClean="0"/>
              <a:t>12/10/2018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6891D1-30AB-48EF-8239-F2BD70584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Avarkey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77D28-53F4-4A15-A0E5-7C3659B1E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59D5-91C1-4E9C-B29B-A30C26C8E36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7546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95B1E-CFFE-4439-9218-1EECF06A5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for user interaction (</a:t>
            </a:r>
            <a:r>
              <a:rPr lang="en-US" dirty="0" err="1"/>
              <a:t>eMail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BB22BA-8723-4AC1-AB65-8ADC21BAAA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Password reset instruction!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This given token is around 15 minutes alive. Follow this link above and reset your password.</a:t>
            </a:r>
          </a:p>
          <a:p>
            <a:r>
              <a:rPr lang="en-US" dirty="0"/>
              <a:t>Reset-Token: a340806392314cd452eae3800271e01e127659944986473b7176454a9878dd5c</a:t>
            </a:r>
          </a:p>
          <a:p>
            <a:r>
              <a:rPr lang="en-US" dirty="0"/>
              <a:t>External link: a340806392314cd452eae3800271e01e127659944986473b7176454a9878dd5c</a:t>
            </a:r>
          </a:p>
          <a:p>
            <a:r>
              <a:rPr lang="en-US" dirty="0"/>
              <a:t>Browser link: </a:t>
            </a:r>
            <a:r>
              <a:rPr lang="en-US" dirty="0">
                <a:hlinkClick r:id="rId2"/>
              </a:rPr>
              <a:t>http://13.209.194.1:5000/api/?module=ff206b0edf705eb7538c49c8f7401436&amp;token=a340806392314cd452eae3800271e01e127659944986473b7176454a9878dd5c</a:t>
            </a:r>
            <a:endParaRPr lang="en-US" dirty="0"/>
          </a:p>
          <a:p>
            <a:r>
              <a:rPr lang="en-US" dirty="0"/>
              <a:t>Best regards.</a:t>
            </a:r>
          </a:p>
          <a:p>
            <a:r>
              <a:rPr lang="en-US" dirty="0" err="1"/>
              <a:t>Avarkey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51780-F9A7-47C3-B60C-8625F2AED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FCAA1-59BA-4590-AC78-95A4AD47CDE3}" type="datetime1">
              <a:rPr lang="en-US" smtClean="0"/>
              <a:t>12/10/2018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9197CF-570D-4AC4-8C92-D4813D36F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Avarkey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E53CDE-B1A9-40C4-86F5-8DB54A79C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59D5-91C1-4E9C-B29B-A30C26C8E36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1431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773F4-5F03-4FF1-A350-512954530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Outlook into the future of </a:t>
            </a:r>
            <a:r>
              <a:rPr lang="en-US" dirty="0" err="1"/>
              <a:t>avarkey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42643-ADCD-42C0-8577-16B30084F3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Each avatar </a:t>
            </a:r>
          </a:p>
          <a:p>
            <a:pPr lvl="1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has different priced layers</a:t>
            </a:r>
          </a:p>
          <a:p>
            <a:pPr lvl="1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is an unique product</a:t>
            </a:r>
          </a:p>
          <a:p>
            <a:pPr lvl="1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can be owned only by one user supported by smart contract on blockchain</a:t>
            </a:r>
          </a:p>
          <a:p>
            <a:pPr lvl="1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can be used by several users in there wallets for mapping wallet addresses</a:t>
            </a:r>
          </a:p>
          <a:p>
            <a:pPr lvl="1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Owned but unused avatars</a:t>
            </a:r>
          </a:p>
          <a:p>
            <a:pPr lvl="1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can be traded or auctioned on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avarkey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marketplace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8E3D36-E8E0-48A2-92C7-34E18E60D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EE9B5-C311-4463-8715-0900B47A4855}" type="datetime1">
              <a:rPr lang="en-US" smtClean="0"/>
              <a:t>12/10/2018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0ABE7F-D76E-4039-ADDF-14D13B47A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Avarkey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16AA39-F1CC-4628-8A54-54923E92D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C59D5-91C1-4E9C-B29B-A30C26C8E36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57757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611</TotalTime>
  <Words>634</Words>
  <Application>Microsoft Office PowerPoint</Application>
  <PresentationFormat>Widescreen</PresentationFormat>
  <Paragraphs>203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Times New Roman</vt:lpstr>
      <vt:lpstr>Trebuchet MS</vt:lpstr>
      <vt:lpstr>Wingdings 3</vt:lpstr>
      <vt:lpstr>Facet</vt:lpstr>
      <vt:lpstr>Avatar layered creation tool</vt:lpstr>
      <vt:lpstr>History of avatar creation process</vt:lpstr>
      <vt:lpstr>Voronio Diagram as template for avatar</vt:lpstr>
      <vt:lpstr>Attempt to create an unique avatar</vt:lpstr>
      <vt:lpstr>Combination of voronio and art</vt:lpstr>
      <vt:lpstr>Crowd supported art and variation</vt:lpstr>
      <vt:lpstr>Layered generation tool</vt:lpstr>
      <vt:lpstr>Layered generation tool / Roles</vt:lpstr>
      <vt:lpstr>Avatar creating process</vt:lpstr>
      <vt:lpstr>Database partitial overview</vt:lpstr>
      <vt:lpstr>Api Overview</vt:lpstr>
      <vt:lpstr>Example for user interaction (password)</vt:lpstr>
      <vt:lpstr>Example for user interaction (eMail)</vt:lpstr>
      <vt:lpstr>Outlook into the future of avarkey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marian kulisch</dc:creator>
  <cp:lastModifiedBy>marian kulisch</cp:lastModifiedBy>
  <cp:revision>40</cp:revision>
  <dcterms:created xsi:type="dcterms:W3CDTF">2018-12-09T06:53:13Z</dcterms:created>
  <dcterms:modified xsi:type="dcterms:W3CDTF">2018-12-09T17:04:19Z</dcterms:modified>
</cp:coreProperties>
</file>